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D2E"/>
    <a:srgbClr val="EFF5EA"/>
    <a:srgbClr val="E5E8EE"/>
    <a:srgbClr val="548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32B78-E683-42A3-8454-13DBF2C8AE1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C4833-F0ED-4CD7-AAB0-3E4501F0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89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C4833-F0ED-4CD7-AAB0-3E4501F0AB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65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7BAF-D555-669A-FD59-57EA8257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216E88-9790-DA01-D3B6-2B72FEDD60B7}"/>
              </a:ext>
            </a:extLst>
          </p:cNvPr>
          <p:cNvSpPr/>
          <p:nvPr/>
        </p:nvSpPr>
        <p:spPr>
          <a:xfrm>
            <a:off x="0" y="4641447"/>
            <a:ext cx="12192000" cy="2246415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F535E25-71B5-5B97-1AAF-86E0058E2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99" y="255829"/>
            <a:ext cx="1709633" cy="724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524F9A-0AC1-E1AA-A9B7-A1C135D4302B}"/>
              </a:ext>
            </a:extLst>
          </p:cNvPr>
          <p:cNvSpPr txBox="1"/>
          <p:nvPr/>
        </p:nvSpPr>
        <p:spPr>
          <a:xfrm>
            <a:off x="626364" y="1401759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5B6E65"/>
                </a:solidFill>
                <a:latin typeface="Aptos"/>
              </a:defRPr>
            </a:pPr>
            <a:r>
              <a:rPr sz="1600" dirty="0"/>
              <a:t>SONA COLLEGE OF TECHNOLOGY  /  STUDENT INNOVATION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4F6A9-4B9A-B6AA-47D6-4EBB0131765D}"/>
              </a:ext>
            </a:extLst>
          </p:cNvPr>
          <p:cNvSpPr txBox="1"/>
          <p:nvPr/>
        </p:nvSpPr>
        <p:spPr>
          <a:xfrm>
            <a:off x="621792" y="1755648"/>
            <a:ext cx="65836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1">
                <a:solidFill>
                  <a:srgbClr val="132A22"/>
                </a:solidFill>
                <a:latin typeface="Aptos"/>
              </a:defRPr>
            </a:pPr>
            <a:r>
              <a:rPr dirty="0">
                <a:solidFill>
                  <a:srgbClr val="548443"/>
                </a:solidFill>
              </a:rPr>
              <a:t>ZEN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0B3D2E"/>
                </a:solidFill>
              </a:rPr>
              <a:t>CODE</a:t>
            </a:r>
            <a:r>
              <a:rPr lang="en-US" dirty="0">
                <a:solidFill>
                  <a:srgbClr val="0B3D2E"/>
                </a:solidFill>
              </a:rPr>
              <a:t> ‘26</a:t>
            </a:r>
            <a:endParaRPr dirty="0">
              <a:solidFill>
                <a:srgbClr val="0B3D2E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7B8890-90D5-0030-05E1-44071D2FBF9F}"/>
              </a:ext>
            </a:extLst>
          </p:cNvPr>
          <p:cNvSpPr txBox="1"/>
          <p:nvPr/>
        </p:nvSpPr>
        <p:spPr>
          <a:xfrm>
            <a:off x="626364" y="2520397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en-IN" sz="2400" b="1" dirty="0">
                <a:solidFill>
                  <a:srgbClr val="0B3D2E"/>
                </a:solidFill>
                <a:latin typeface="Aptos"/>
              </a:rPr>
              <a:t>Build. Innovate. Compete.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5F9B02-3120-BEC5-2961-6B83BFC45C83}"/>
              </a:ext>
            </a:extLst>
          </p:cNvPr>
          <p:cNvSpPr txBox="1"/>
          <p:nvPr/>
        </p:nvSpPr>
        <p:spPr>
          <a:xfrm>
            <a:off x="626364" y="5125381"/>
            <a:ext cx="338328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146849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</a:rPr>
              <a:t>T</a:t>
            </a:r>
            <a:r>
              <a:rPr lang="en-IN" sz="1400" dirty="0">
                <a:solidFill>
                  <a:schemeClr val="bg1"/>
                </a:solidFill>
              </a:rPr>
              <a:t>EAM NAME :</a:t>
            </a:r>
          </a:p>
          <a:p>
            <a:pPr algn="l">
              <a:defRPr sz="900" b="1">
                <a:solidFill>
                  <a:srgbClr val="146849"/>
                </a:solidFill>
                <a:latin typeface="Aptos"/>
              </a:defRPr>
            </a:pPr>
            <a:endParaRPr lang="en-IN" sz="1400" dirty="0">
              <a:solidFill>
                <a:schemeClr val="bg1"/>
              </a:solidFill>
            </a:endParaRPr>
          </a:p>
          <a:p>
            <a:pPr algn="l">
              <a:defRPr sz="900" b="1">
                <a:solidFill>
                  <a:srgbClr val="146849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</a:rPr>
              <a:t>TEAM MEMBERS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</a:p>
          <a:p>
            <a:pPr algn="l">
              <a:defRPr sz="900" b="1">
                <a:solidFill>
                  <a:srgbClr val="146849"/>
                </a:solidFill>
                <a:latin typeface="Aptos"/>
              </a:defRPr>
            </a:pP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6E947D-128C-F0DA-65F7-2D03143E874C}"/>
              </a:ext>
            </a:extLst>
          </p:cNvPr>
          <p:cNvSpPr txBox="1"/>
          <p:nvPr/>
        </p:nvSpPr>
        <p:spPr>
          <a:xfrm>
            <a:off x="2225433" y="5525490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>
                <a:solidFill>
                  <a:srgbClr val="132A22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[</a:t>
            </a:r>
            <a:r>
              <a:rPr lang="en-US" dirty="0">
                <a:solidFill>
                  <a:schemeClr val="bg1"/>
                </a:solidFill>
              </a:rPr>
              <a:t>MEMBER 1 NAME</a:t>
            </a:r>
            <a:r>
              <a:rPr dirty="0">
                <a:solidFill>
                  <a:schemeClr val="bg1"/>
                </a:solidFill>
              </a:rPr>
              <a:t>]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1500" b="0">
                <a:solidFill>
                  <a:srgbClr val="132A22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</a:rPr>
              <a:t>[MEMBER 1 NAME]  </a:t>
            </a:r>
          </a:p>
          <a:p>
            <a:pPr>
              <a:defRPr sz="1500" b="0">
                <a:solidFill>
                  <a:srgbClr val="132A22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</a:rPr>
              <a:t>[MEMBER 1 NAME]  </a:t>
            </a:r>
          </a:p>
          <a:p>
            <a:pPr algn="l">
              <a:defRPr sz="1500" b="0">
                <a:solidFill>
                  <a:srgbClr val="132A22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B7BF63-FBE0-DB3B-55FB-99B9F5D0FE5F}"/>
              </a:ext>
            </a:extLst>
          </p:cNvPr>
          <p:cNvSpPr txBox="1"/>
          <p:nvPr/>
        </p:nvSpPr>
        <p:spPr>
          <a:xfrm>
            <a:off x="11201400" y="626364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146849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FAABCD-3E0B-1334-187A-F9C0B38E7093}"/>
              </a:ext>
            </a:extLst>
          </p:cNvPr>
          <p:cNvSpPr txBox="1"/>
          <p:nvPr/>
        </p:nvSpPr>
        <p:spPr>
          <a:xfrm>
            <a:off x="2542032" y="3968271"/>
            <a:ext cx="6400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32A22"/>
                </a:solidFill>
                <a:latin typeface="Aptos"/>
              </a:defRPr>
            </a:pPr>
            <a:r>
              <a:rPr lang="en-US" dirty="0">
                <a:solidFill>
                  <a:srgbClr val="0B3D2E"/>
                </a:solidFill>
              </a:rPr>
              <a:t>[PROJECT</a:t>
            </a:r>
            <a:r>
              <a:rPr lang="en-US" dirty="0"/>
              <a:t> TITLE]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EC579-F527-0672-A302-AD204E842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67690"/>
            <a:ext cx="2720562" cy="43464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E3EEDD-A76F-C22F-F4B0-124A50C81CF7}"/>
              </a:ext>
            </a:extLst>
          </p:cNvPr>
          <p:cNvSpPr/>
          <p:nvPr/>
        </p:nvSpPr>
        <p:spPr>
          <a:xfrm>
            <a:off x="8907819" y="1328402"/>
            <a:ext cx="2293581" cy="2005108"/>
          </a:xfrm>
          <a:prstGeom prst="roundRect">
            <a:avLst/>
          </a:prstGeom>
          <a:solidFill>
            <a:srgbClr val="EFF5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D0E1F4-AB4A-616B-DB01-5EEDD08E4600}"/>
              </a:ext>
            </a:extLst>
          </p:cNvPr>
          <p:cNvSpPr txBox="1"/>
          <p:nvPr/>
        </p:nvSpPr>
        <p:spPr>
          <a:xfrm>
            <a:off x="9189721" y="1967696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PLACE YOUR LOGO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01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Clearly define the problem your team aims to solve.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766560" cy="438912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63642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6364224" cy="3584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[Describe the problem in 3–5 concise points. Who experiences it? When and why does it happen?]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600200"/>
            <a:ext cx="3703320" cy="201168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1764792"/>
            <a:ext cx="330098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TARGET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258568"/>
            <a:ext cx="3300984" cy="12070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[Who will benefit from your solution?]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840480"/>
            <a:ext cx="3703320" cy="21488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7848" y="4005072"/>
            <a:ext cx="330098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498848"/>
            <a:ext cx="3300984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 dirty="0">
                <a:solidFill>
                  <a:srgbClr val="677568"/>
                </a:solidFill>
                <a:latin typeface="Aptos"/>
              </a:rPr>
              <a:t>[Impact, urgency, scale or consequences of the problem.]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02  |  Abstract &amp;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Summarize the idea so judges understand it quickly.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349240" cy="438912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469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PROJECT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4946903" cy="3584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[In 100–150 words: what are you building, for whom, and what outcome does it provide?]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166360" cy="196596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7640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VISION /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58568"/>
            <a:ext cx="4764024" cy="1161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[What change do you want to create?]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3959352"/>
            <a:ext cx="47640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EXPECTED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453128"/>
            <a:ext cx="4764024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[What will users be able to do after using your solution?]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03  | 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Describe the current approach before explaining your innovation.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349240" cy="44348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469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CURRENT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4946903" cy="3630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[List current methods, tools, products or manual processes used to address this problem.]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166360" cy="44348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7640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LIMITATIONS /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58568"/>
            <a:ext cx="4764024" cy="3630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[Explain what does not work well, what is missing, and which user needs remain unmet.]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04  | 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Explain your solution and why it is better suited to the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720840" cy="44348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63185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OUR 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6318503" cy="3630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[Describe how your system works and how it addresses the problem.]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60020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764792"/>
            <a:ext cx="33467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WHAT IS NEW?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258568"/>
            <a:ext cx="3346703" cy="12070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[Innovation / unique selling point]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840480"/>
            <a:ext cx="3749039" cy="219456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4005072"/>
            <a:ext cx="33467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KEY ADVANTAGES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4498848"/>
            <a:ext cx="3346703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[Benefits compared with the existing system]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05  |  Objectives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Keep the objectives measurable and the features specific.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349240" cy="44348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469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4983479" cy="3685031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[Objective 1]</a:t>
            </a:r>
          </a:p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[Objective 2]</a:t>
            </a:r>
          </a:p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[Objective 3]</a:t>
            </a:r>
          </a:p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[Objective 4 — optional]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166360" cy="44348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7640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2"/>
            <a:ext cx="4800600" cy="3685031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[Feature 1 — user benefit]</a:t>
            </a:r>
          </a:p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[Feature 2 — user benefit]</a:t>
            </a:r>
          </a:p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[Feature 3 — user benefit]</a:t>
            </a:r>
          </a:p>
          <a:p>
            <a:pPr>
              <a:spcAft>
                <a:spcPts val="1200"/>
              </a:spcAft>
              <a:defRPr sz="1400">
                <a:solidFill>
                  <a:srgbClr val="1F2921"/>
                </a:solidFill>
                <a:latin typeface="Aptos"/>
              </a:defRPr>
            </a:pPr>
            <a:r>
              <a:t>•  [Feature 4 — optional]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06  |  Process Flow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Insert a flowchart or use-case diagram showing the main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1874519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40763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26080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USER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64992"/>
            <a:ext cx="1874519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[What is entered?]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944368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40763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2578608"/>
            <a:ext cx="1874519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40763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926080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364992"/>
            <a:ext cx="1874519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[How it works]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2944368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40763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578608"/>
            <a:ext cx="1874519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40763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926080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CORE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64992"/>
            <a:ext cx="1874519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[Main logic]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944368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40763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578608"/>
            <a:ext cx="1874519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40763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7" y="2926080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364992"/>
            <a:ext cx="1874519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[What user receives]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92040"/>
            <a:ext cx="101498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Replace these sample boxes with your own process flow, use-case diagram, or methodology.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07  |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List only the technologies actually used or planned.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3154680" cy="16002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27523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04288"/>
            <a:ext cx="2752344" cy="795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[Languages / UI framework]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45920"/>
            <a:ext cx="3154680" cy="16002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810512"/>
            <a:ext cx="27523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04288"/>
            <a:ext cx="2752344" cy="795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[Language / framework / server]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45920"/>
            <a:ext cx="3154680" cy="16002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1810512"/>
            <a:ext cx="27523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304288"/>
            <a:ext cx="2752344" cy="795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[Database / storage]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6002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822191"/>
            <a:ext cx="27523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AI /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15968"/>
            <a:ext cx="2752344" cy="795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[Models / external APIs, if any]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657600"/>
            <a:ext cx="3154680" cy="16002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3822191"/>
            <a:ext cx="27523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TOOLS &amp;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315968"/>
            <a:ext cx="2752344" cy="795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[Cloud / IDE / version control]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3657600"/>
            <a:ext cx="3154680" cy="160020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67928" y="3822191"/>
            <a:ext cx="275234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174A32"/>
                </a:solidFill>
                <a:latin typeface="Aptos"/>
              </a:rPr>
              <a:t>OTHER</a:t>
            </a:r>
            <a:r>
              <a:rPr lang="en-US" sz="1600" b="1" dirty="0">
                <a:solidFill>
                  <a:srgbClr val="174A32"/>
                </a:solidFill>
                <a:latin typeface="Aptos"/>
              </a:rPr>
              <a:t>S</a:t>
            </a:r>
            <a:endParaRPr sz="1600" b="1" i="0" dirty="0">
              <a:solidFill>
                <a:srgbClr val="174A3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67928" y="4315968"/>
            <a:ext cx="2752344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 dirty="0">
                <a:solidFill>
                  <a:srgbClr val="677568"/>
                </a:solidFill>
                <a:latin typeface="Aptos"/>
              </a:rPr>
              <a:t>[</a:t>
            </a:r>
            <a:r>
              <a:rPr lang="en-IN" sz="1400" b="0" i="1" dirty="0">
                <a:solidFill>
                  <a:srgbClr val="677568"/>
                </a:solidFill>
                <a:latin typeface="Aptos"/>
              </a:rPr>
              <a:t>/</a:t>
            </a:r>
            <a:r>
              <a:rPr sz="1400" b="0" i="1" dirty="0">
                <a:solidFill>
                  <a:srgbClr val="677568"/>
                </a:solidFill>
                <a:latin typeface="Aptos"/>
              </a:rPr>
              <a:t> other tools]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08  |  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Insert an architecture diagram and label the major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691640"/>
            <a:ext cx="10058400" cy="7772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39" y="1801368"/>
            <a:ext cx="9692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USER / CLIENT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39" y="2093976"/>
            <a:ext cx="96926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[Web app • Mobile app • Device]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743200"/>
            <a:ext cx="8412480" cy="7772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2852928"/>
            <a:ext cx="8046719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APPLICATION / 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145536"/>
            <a:ext cx="80467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[API • Business logic • AI model]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794760"/>
            <a:ext cx="6766560" cy="77724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 w="12700"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3904488"/>
            <a:ext cx="6400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74A32"/>
                </a:solidFill>
                <a:latin typeface="Aptos"/>
              </a:rPr>
              <a:t>DATA / INTEGRATION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197096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[Database • External APIs • Storage]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1">
                <a:solidFill>
                  <a:srgbClr val="677568"/>
                </a:solidFill>
                <a:latin typeface="Aptos"/>
              </a:rPr>
              <a:t>Replace this illustrative layered layout with your actual system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74A32"/>
                </a:solidFill>
                <a:latin typeface="Aptos"/>
              </a:rPr>
              <a:t>09  |  Prototype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77568"/>
                </a:solidFill>
                <a:latin typeface="Aptos"/>
              </a:rPr>
              <a:t>Show evidence of progress and summarize the value of your solution.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469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4A32"/>
                </a:solidFill>
                <a:latin typeface="Aptos"/>
              </a:rPr>
              <a:t>PROTOTYPE / SCREENSHOTS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4946903" cy="1938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77568"/>
                </a:solidFill>
                <a:latin typeface="Aptos"/>
              </a:rPr>
              <a:t>[Insert UI screenshot, hardware photo, mock-up, or demo frame.]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7640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58568"/>
            <a:ext cx="4764024" cy="19385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18304"/>
            <a:ext cx="494690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5212080"/>
            <a:ext cx="4946903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4718304"/>
            <a:ext cx="476402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5212080"/>
            <a:ext cx="4764024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1600200"/>
            <a:ext cx="10744200" cy="438912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1764792"/>
            <a:ext cx="10341864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174A32"/>
                </a:solidFill>
                <a:latin typeface="Aptos"/>
              </a:rPr>
              <a:t>PROTOTYPE /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2258568"/>
            <a:ext cx="10341864" cy="3566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 i="1">
                <a:solidFill>
                  <a:srgbClr val="677568"/>
                </a:solidFill>
                <a:latin typeface="Aptos"/>
              </a:rPr>
              <a:t>[Insert screenshots, UI mockups, hardware photos, or a demo link. Explain what is currently working.]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500" b="1" i="0">
                <a:solidFill>
                  <a:srgbClr val="174A32"/>
                </a:solidFill>
                <a:latin typeface="Aptos"/>
              </a:rPr>
              <a:t>10  |  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677568"/>
                </a:solidFill>
                <a:latin typeface="Aptos"/>
              </a:rPr>
              <a:t>Present the outcome of your solution and the value it creates.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744200" cy="438912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10341864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174A32"/>
                </a:solidFill>
                <a:latin typeface="Aptos"/>
              </a:rPr>
              <a:t>RESULTS / EXPECTED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10341864" cy="3566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 i="1">
                <a:solidFill>
                  <a:srgbClr val="677568"/>
                </a:solidFill>
                <a:latin typeface="Aptos"/>
              </a:rPr>
              <a:t>[Add actual test results if available. If not, describe expected benefits and who will benefit.]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500" b="1" i="0">
                <a:solidFill>
                  <a:srgbClr val="174A32"/>
                </a:solidFill>
                <a:latin typeface="Aptos"/>
              </a:rPr>
              <a:t>11  | 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677568"/>
                </a:solidFill>
                <a:latin typeface="Aptos"/>
              </a:rPr>
              <a:t>Explain how the project could be improved or expanded after the hackathon.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744200" cy="438912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10341864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174A32"/>
                </a:solidFill>
                <a:latin typeface="Aptos"/>
              </a:rP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10341864" cy="3566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 i="1">
                <a:solidFill>
                  <a:srgbClr val="677568"/>
                </a:solidFill>
                <a:latin typeface="Aptos"/>
              </a:rPr>
              <a:t>[List realistic next steps, improvements, new features, scaling plans, or limitations to address.]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500" b="1" i="0">
                <a:solidFill>
                  <a:srgbClr val="174A32"/>
                </a:solidFill>
                <a:latin typeface="Aptos"/>
              </a:rPr>
              <a:t>12  |  Demo Links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0" i="0">
                <a:solidFill>
                  <a:srgbClr val="677568"/>
                </a:solidFill>
                <a:latin typeface="Aptos"/>
              </a:rPr>
              <a:t>Share working links and acknowledge the sources you used.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1000232" cy="13716"/>
          </a:xfrm>
          <a:prstGeom prst="rect">
            <a:avLst/>
          </a:prstGeom>
          <a:solidFill>
            <a:srgbClr val="DAE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IN" sz="800" b="1" i="0" dirty="0">
                <a:solidFill>
                  <a:srgbClr val="FFFFFF"/>
                </a:solidFill>
                <a:latin typeface="Aptos"/>
              </a:rPr>
              <a:t>ZEN CODE '26  •  HACKATHON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744200" cy="4389120"/>
          </a:xfrm>
          <a:prstGeom prst="roundRect">
            <a:avLst>
              <a:gd name="adj" fmla="val 12000"/>
            </a:avLst>
          </a:prstGeom>
          <a:solidFill>
            <a:srgbClr val="EFF5EA"/>
          </a:solidFill>
          <a:ln>
            <a:solidFill>
              <a:srgbClr val="DA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10341864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i="0">
                <a:solidFill>
                  <a:srgbClr val="174A32"/>
                </a:solidFill>
                <a:latin typeface="Aptos"/>
              </a:rPr>
              <a:t>DEMO / REPOSITORY /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10341864" cy="3566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 i="1">
                <a:solidFill>
                  <a:srgbClr val="677568"/>
                </a:solidFill>
                <a:latin typeface="Aptos"/>
              </a:rPr>
              <a:t>[Add demo URL, GitHub repository, video link, APIs, datasets, papers, or other references.]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F16B-F950-66B5-DDB6-D0F7B41C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2C1E30-E0D1-A467-464B-E336A9960C73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E5B917-1798-D7C1-8117-D5A28F33EBD0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671D7-F202-848C-EA67-7429C7E21185}"/>
              </a:ext>
            </a:extLst>
          </p:cNvPr>
          <p:cNvSpPr txBox="1"/>
          <p:nvPr/>
        </p:nvSpPr>
        <p:spPr>
          <a:xfrm>
            <a:off x="502920" y="6661404"/>
            <a:ext cx="6583680" cy="1785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 dirty="0">
                <a:solidFill>
                  <a:srgbClr val="FFFFFF"/>
                </a:solidFill>
                <a:latin typeface="Aptos"/>
              </a:rPr>
              <a:t>ZEN CODE </a:t>
            </a:r>
            <a:r>
              <a:rPr lang="en-US" sz="800" b="1" dirty="0">
                <a:solidFill>
                  <a:srgbClr val="FFFFFF"/>
                </a:solidFill>
                <a:latin typeface="Aptos"/>
              </a:rPr>
              <a:t>'</a:t>
            </a:r>
            <a:r>
              <a:rPr sz="800" b="1" i="0" dirty="0">
                <a:solidFill>
                  <a:srgbClr val="FFFFFF"/>
                </a:solidFill>
                <a:latin typeface="Aptos"/>
              </a:rPr>
              <a:t>26  •  HACKATHON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313D0-F956-E264-F4F8-C70AF6B3F332}"/>
              </a:ext>
            </a:extLst>
          </p:cNvPr>
          <p:cNvSpPr txBox="1"/>
          <p:nvPr/>
        </p:nvSpPr>
        <p:spPr>
          <a:xfrm>
            <a:off x="11155680" y="6652260"/>
            <a:ext cx="50292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711B3-F9AA-63A1-57A6-28C304EFBEA8}"/>
              </a:ext>
            </a:extLst>
          </p:cNvPr>
          <p:cNvSpPr/>
          <p:nvPr/>
        </p:nvSpPr>
        <p:spPr>
          <a:xfrm>
            <a:off x="0" y="146304"/>
            <a:ext cx="12191695" cy="6483096"/>
          </a:xfrm>
          <a:prstGeom prst="rect">
            <a:avLst/>
          </a:prstGeom>
          <a:solidFill>
            <a:srgbClr val="EFF5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0B3D2E"/>
                </a:solidFill>
                <a:latin typeface="Aptos" panose="020B0004020202020204" pitchFamily="34" charset="0"/>
              </a:rPr>
              <a:t>THANK YOU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0B3D2E"/>
                </a:solidFill>
                <a:latin typeface="Aptos" panose="020B0004020202020204" pitchFamily="34" charset="0"/>
              </a:rPr>
              <a:t>ANY QUESTIONS?</a:t>
            </a:r>
            <a:endParaRPr lang="en-IN" sz="3200" dirty="0">
              <a:solidFill>
                <a:srgbClr val="0B3D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48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808</Words>
  <Application>Microsoft Office PowerPoint</Application>
  <PresentationFormat>Widescreen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CODE 2026 — Student Hackathon Presentation Template (Split Content Slides)</dc:title>
  <dc:subject>Student hackathon template with content sections separated into individual slides</dc:subject>
  <dc:creator>ZEN CODE 2026</dc:creator>
  <cp:keywords>ZEN CODE, hackathon, student presentation, Sona College of Technology</cp:keywords>
  <dc:description>generated using python-pptx</dc:description>
  <cp:lastModifiedBy>PRIYADARSINI K J</cp:lastModifiedBy>
  <cp:revision>4</cp:revision>
  <dcterms:created xsi:type="dcterms:W3CDTF">2013-01-27T09:14:16Z</dcterms:created>
  <dcterms:modified xsi:type="dcterms:W3CDTF">2026-10-10T17:13:58Z</dcterms:modified>
  <cp:category/>
</cp:coreProperties>
</file>